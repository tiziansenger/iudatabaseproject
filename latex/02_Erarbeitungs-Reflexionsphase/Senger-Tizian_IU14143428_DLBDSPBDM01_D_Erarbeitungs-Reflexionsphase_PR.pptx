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Datenbankentwurf für eine Buchtausch-App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796B"/>
                </a:solidFill>
                <a:latin typeface="Calibri"/>
              </a:rPr>
              <a:t>Portfolioteil 2 -- Erarbeitungs-/Reflexionsphase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29000"/>
            <a:ext cx="5486400" cy="1905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Tizian Senger
</a:t>
            </a:r>
            <a:r>
              <a:rPr sz="1300" b="0" i="0">
                <a:solidFill>
                  <a:srgbClr val="666666"/>
                </a:solidFill>
                <a:latin typeface="Calibri"/>
              </a:rPr>
              <a:t>DLBDSPBDM01_D -- Data-Mart-Erstellung in SQL
</a:t>
            </a:r>
            <a:r>
              <a:rPr sz="1300" b="0" i="0">
                <a:solidFill>
                  <a:srgbClr val="666666"/>
                </a:solidFill>
                <a:latin typeface="Calibri"/>
              </a:rPr>
              <a:t>Matrikelnummer: IU14143428
</a:t>
            </a:r>
            <a:r>
              <a:rPr sz="1300" b="0" i="0">
                <a:solidFill>
                  <a:srgbClr val="666666"/>
                </a:solidFill>
                <a:latin typeface="Calibri"/>
              </a:rPr>
              <a:t>https://github.com/TizianSenger/IUDatabaseProject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Überblick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Tabellen und SQL-Statements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Dreifachbeziehungen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Constraints und Geschäftsregeln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Zusammenfassung und Reflexion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Überblick über das Datenbankdesign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3/25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Verwendetes DBMS: SQLite 3 -- serverlos, eine einzelne Datei, voll SQL-fähig (CHECK, FOREIGN KEY, TRIGGER, JOIN); laut Aufgabenstellung frei wählbar.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Anzahl Tabellen: 17 (13 Entitäten + 2 Dreifachbeziehungstabellen ausleihe/verfuegbarkeit + 2 M:N-Tabellen buch_autor/buch_genre).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Normalform: 3. Normalform (3NF) -- keine transitiven Abhängigkeiten, Autor/Verlag/Genre/Sprache konsequent ausgelagert.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Gegenüber Phase 1 umgesetztes Tutor-Feedback: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-  BUCH (Werk) und BUCHEXEMPLAR (physische Kopie inkl. Eigentümer:in) getrennt.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-  BEWERTUNG per eindeutigem FK an ausleihe_id gekoppelt statt eigener Dreifachbeziehung.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-  Durchgängige CHECK-Constraints (Sterne 1-5, Versandkosten &gt;= 0, startzeit &lt; endzeit).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-  Negativtestfälle für alle zentralen Geschäftsregeln (siehe Folien 21-22).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NUTZER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4/25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nutzer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nutzer_id</a:t>
            </a:r>
            <a:r>
              <a:rPr sz="1150">
                <a:solidFill>
                  <a:srgbClr val="333333"/>
                </a:solidFill>
                <a:latin typeface="Consolas"/>
              </a:rPr>
              <a:t>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vorname</a:t>
            </a: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50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nachname</a:t>
            </a:r>
            <a:r>
              <a:rPr sz="1150">
                <a:solidFill>
                  <a:srgbClr val="333333"/>
                </a:solidFill>
                <a:latin typeface="Consolas"/>
              </a:rPr>
              <a:t>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50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email</a:t>
            </a:r>
            <a:r>
              <a:rPr sz="1150">
                <a:solidFill>
                  <a:srgbClr val="333333"/>
                </a:solidFill>
                <a:latin typeface="Consolas"/>
              </a:rPr>
              <a:t> 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100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UNIQUE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passwort_hash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255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telefon</a:t>
            </a: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20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rolle</a:t>
            </a:r>
            <a:r>
              <a:rPr sz="1150">
                <a:solidFill>
                  <a:srgbClr val="333333"/>
                </a:solidFill>
                <a:latin typeface="Consolas"/>
              </a:rPr>
              <a:t> 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DEFAULT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B05A00"/>
                </a:solidFill>
                <a:latin typeface="Consolas"/>
              </a:rPr>
              <a:t>'nutzer'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rolle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IN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B05A00"/>
                </a:solidFill>
                <a:latin typeface="Consolas"/>
              </a:rPr>
              <a:t>'nutzer'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B05A00"/>
                </a:solidFill>
                <a:latin typeface="Consolas"/>
              </a:rPr>
              <a:t>'admin'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registriert_am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DEFAULT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CURRENT_DATE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100" b="0" i="0">
                <a:solidFill>
                  <a:srgbClr val="333333"/>
                </a:solidFill>
                <a:latin typeface="Consolas"/>
              </a:rPr>
              <a:t>SELECT nutzer_id, vorname, nachname, email FROM nutzer WHERE rolle = 'nutzer';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 (11 Treffer)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ut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49" y="2715768"/>
            <a:ext cx="3734501" cy="27980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ADRESSE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5/25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adresse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adresse_id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nutzer_id</a:t>
            </a:r>
            <a:r>
              <a:rPr sz="1150">
                <a:solidFill>
                  <a:srgbClr val="333333"/>
                </a:solidFill>
                <a:latin typeface="Consolas"/>
              </a:rPr>
              <a:t>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nutzer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nutzer_id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ON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DELETE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CASCADE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strasse</a:t>
            </a:r>
            <a:r>
              <a:rPr sz="1150">
                <a:solidFill>
                  <a:srgbClr val="333333"/>
                </a:solidFill>
                <a:latin typeface="Consolas"/>
              </a:rPr>
              <a:t>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100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hausnummer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plz</a:t>
            </a:r>
            <a:r>
              <a:rPr sz="1150">
                <a:solidFill>
                  <a:srgbClr val="333333"/>
                </a:solidFill>
                <a:latin typeface="Consolas"/>
              </a:rPr>
              <a:t>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stadt</a:t>
            </a:r>
            <a:r>
              <a:rPr sz="1150">
                <a:solidFill>
                  <a:srgbClr val="333333"/>
                </a:solidFill>
                <a:latin typeface="Consolas"/>
              </a:rPr>
              <a:t>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50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land</a:t>
            </a: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50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DEFAULT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B05A00"/>
                </a:solidFill>
                <a:latin typeface="Consolas"/>
              </a:rPr>
              <a:t>'Deutschland'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Adresse von Anna Bauer per JOIN adresse--nutzer → Musterstrasse 12, 10115 Berlin.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re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853136"/>
            <a:ext cx="5221224" cy="25233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VERLAG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6/25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verlag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verlag_id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name</a:t>
            </a:r>
            <a:r>
              <a:rPr sz="1150">
                <a:solidFill>
                  <a:srgbClr val="333333"/>
                </a:solidFill>
                <a:latin typeface="Consolas"/>
              </a:rPr>
              <a:t>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100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UNIQUE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land</a:t>
            </a:r>
            <a:r>
              <a:rPr sz="1150">
                <a:solidFill>
                  <a:srgbClr val="333333"/>
                </a:solidFill>
                <a:latin typeface="Consolas"/>
              </a:rPr>
              <a:t>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50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100" b="0" i="0">
                <a:solidFill>
                  <a:srgbClr val="333333"/>
                </a:solidFill>
                <a:latin typeface="Consolas"/>
              </a:rPr>
              <a:t>SELECT name FROM verlag WHERE land = 'Deutschland';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 (9 von 10 Verlagen, Diogenes ist Schweizer Verlag)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r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143" y="2715768"/>
            <a:ext cx="4593113" cy="27980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SPRACHE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7/25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sprache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sprache_id</a:t>
            </a:r>
            <a:r>
              <a:rPr sz="1150">
                <a:solidFill>
                  <a:srgbClr val="333333"/>
                </a:solidFill>
                <a:latin typeface="Consolas"/>
              </a:rPr>
              <a:t>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bezeichnung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50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UNIQUE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iso_code</a:t>
            </a:r>
            <a:r>
              <a:rPr sz="1150">
                <a:solidFill>
                  <a:srgbClr val="333333"/>
                </a:solidFill>
                <a:latin typeface="Consolas"/>
              </a:rPr>
              <a:t>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2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UNIQUE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100" b="0" i="0">
                <a:solidFill>
                  <a:srgbClr val="333333"/>
                </a:solidFill>
                <a:latin typeface="Consolas"/>
              </a:rPr>
              <a:t>SELECT bezeichnung, iso_code FROM sprache WHERE bezeichnung = 'Deutsch';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 → ('Deutsch', 'DE')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pr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145258"/>
            <a:ext cx="5221224" cy="19390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GENRE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8/25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genre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genre_id</a:t>
            </a:r>
            <a:r>
              <a:rPr sz="1150">
                <a:solidFill>
                  <a:srgbClr val="333333"/>
                </a:solidFill>
                <a:latin typeface="Consolas"/>
              </a:rPr>
              <a:t>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bezeichnung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50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UNIQUE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Alle Bücher im Genre „Roman“ per JOIN buch_genre -- 5 Treffer (Die Verwandlung, Der Steppenwolf, Der Zauberberg, Das Geisterhaus, Schachnovelle).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872974"/>
            <a:ext cx="5221224" cy="24836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AUTOR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9/25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autor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autor_id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vorname</a:t>
            </a:r>
            <a:r>
              <a:rPr sz="1150">
                <a:solidFill>
                  <a:srgbClr val="333333"/>
                </a:solidFill>
                <a:latin typeface="Consolas"/>
              </a:rPr>
              <a:t>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50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nachname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50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Alle Bücher von Franz Kafka per JOIN buch_autor → „Die Verwandlung“.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u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181586"/>
            <a:ext cx="5221224" cy="1866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BUCH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10/25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buch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buch_id</a:t>
            </a:r>
            <a:r>
              <a:rPr sz="1150">
                <a:solidFill>
                  <a:srgbClr val="333333"/>
                </a:solidFill>
                <a:latin typeface="Consolas"/>
              </a:rPr>
              <a:t> 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titel</a:t>
            </a:r>
            <a:r>
              <a:rPr sz="1150">
                <a:solidFill>
                  <a:srgbClr val="333333"/>
                </a:solidFill>
                <a:latin typeface="Consolas"/>
              </a:rPr>
              <a:t>   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150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verlag_id</a:t>
            </a: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verlag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verlag_id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sprache_id</a:t>
            </a:r>
            <a:r>
              <a:rPr sz="1150">
                <a:solidFill>
                  <a:srgbClr val="333333"/>
                </a:solidFill>
                <a:latin typeface="Consolas"/>
              </a:rPr>
              <a:t>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sprache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sprache_id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erscheinungsjahr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erscheinungsjahr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BETWEEN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1450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AND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2100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Werk-Stammdaten inkl. Verlag/Sprache per JOIN -- 12 Bücher, z. B. ('Die Verwandlung', 'Fischer Verlag', 'Deutsch', 1915).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u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738" y="2715768"/>
            <a:ext cx="3963924" cy="27980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BUCHEXEMPLAR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11/25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buchexemplar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exemplar_id</a:t>
            </a:r>
            <a:r>
              <a:rPr sz="1150">
                <a:solidFill>
                  <a:srgbClr val="333333"/>
                </a:solidFill>
                <a:latin typeface="Consolas"/>
              </a:rPr>
              <a:t>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buch_id</a:t>
            </a:r>
            <a:r>
              <a:rPr sz="1150">
                <a:solidFill>
                  <a:srgbClr val="333333"/>
                </a:solidFill>
                <a:latin typeface="Consolas"/>
              </a:rPr>
              <a:t>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buch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buch_id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eigentuemer_id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nutzer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nutzer_id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ON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DELETE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CASCADE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zustand</a:t>
            </a:r>
            <a:r>
              <a:rPr sz="1150">
                <a:solidFill>
                  <a:srgbClr val="333333"/>
                </a:solidFill>
                <a:latin typeface="Consolas"/>
              </a:rPr>
              <a:t>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20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zustand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IN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B05A00"/>
                </a:solidFill>
                <a:latin typeface="Consolas"/>
              </a:rPr>
              <a:t>'neu'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B05A00"/>
                </a:solidFill>
                <a:latin typeface="Consolas"/>
              </a:rPr>
              <a:t>'gut'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B05A00"/>
                </a:solidFill>
                <a:latin typeface="Consolas"/>
              </a:rPr>
              <a:t>'gebraucht'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333333"/>
                </a:solidFill>
                <a:latin typeface="Consolas"/>
              </a:rPr>
              <a:t>'stark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gebraucht'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erstellt_am</a:t>
            </a:r>
            <a:r>
              <a:rPr sz="1150">
                <a:solidFill>
                  <a:srgbClr val="333333"/>
                </a:solidFill>
                <a:latin typeface="Consolas"/>
              </a:rPr>
              <a:t>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DATE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DEFAULT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CURRENT_DATE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Beide Exemplare des Werks „1984“ -- Eigentümer Hannah Vogel (neu) und Anna Bauer (gut). Zeigt den Mehrwert der Trennung Buch/Buchexemplar aus dem Tutor-Feedback.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uchexem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036806"/>
            <a:ext cx="5221224" cy="21559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ZEITSLOT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12/25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zeitslot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zeitslot_id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datum</a:t>
            </a: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DATE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startzeit</a:t>
            </a: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TIME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endzeit</a:t>
            </a:r>
            <a:r>
              <a:rPr sz="1150">
                <a:solidFill>
                  <a:srgbClr val="333333"/>
                </a:solidFill>
                <a:latin typeface="Consolas"/>
              </a:rPr>
              <a:t>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TIME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startzeit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&lt;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endzeit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Freie Zeitslots am 2026-10-02 → 10:00-11:00 und 16:00-17:00.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zeits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052688"/>
            <a:ext cx="5221224" cy="21242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STANDORT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13/25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standort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standort_id</a:t>
            </a:r>
            <a:r>
              <a:rPr sz="1150">
                <a:solidFill>
                  <a:srgbClr val="333333"/>
                </a:solidFill>
                <a:latin typeface="Consolas"/>
              </a:rPr>
              <a:t>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bezeichnung</a:t>
            </a:r>
            <a:r>
              <a:rPr sz="1150">
                <a:solidFill>
                  <a:srgbClr val="333333"/>
                </a:solidFill>
                <a:latin typeface="Consolas"/>
              </a:rPr>
              <a:t>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100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strasse</a:t>
            </a:r>
            <a:r>
              <a:rPr sz="1150">
                <a:solidFill>
                  <a:srgbClr val="333333"/>
                </a:solidFill>
                <a:latin typeface="Consolas"/>
              </a:rPr>
              <a:t>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100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plz</a:t>
            </a:r>
            <a:r>
              <a:rPr sz="1150">
                <a:solidFill>
                  <a:srgbClr val="333333"/>
                </a:solidFill>
                <a:latin typeface="Consolas"/>
              </a:rPr>
              <a:t>  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stadt</a:t>
            </a:r>
            <a:r>
              <a:rPr sz="1150">
                <a:solidFill>
                  <a:srgbClr val="333333"/>
                </a:solidFill>
                <a:latin typeface="Consolas"/>
              </a:rPr>
              <a:t>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50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breitengrad</a:t>
            </a:r>
            <a:r>
              <a:rPr sz="1150">
                <a:solidFill>
                  <a:srgbClr val="333333"/>
                </a:solidFill>
                <a:latin typeface="Consolas"/>
              </a:rPr>
              <a:t>   </a:t>
            </a:r>
            <a:r>
              <a:rPr sz="1150" b="1">
                <a:solidFill>
                  <a:srgbClr val="00796B"/>
                </a:solidFill>
                <a:latin typeface="Consolas"/>
              </a:rPr>
              <a:t>DECIMAL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9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333333"/>
                </a:solidFill>
                <a:latin typeface="Consolas"/>
              </a:rPr>
              <a:t>6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breitengrad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BETWEEN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-90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AND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90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laengengrad</a:t>
            </a:r>
            <a:r>
              <a:rPr sz="1150">
                <a:solidFill>
                  <a:srgbClr val="333333"/>
                </a:solidFill>
                <a:latin typeface="Consolas"/>
              </a:rPr>
              <a:t>   </a:t>
            </a:r>
            <a:r>
              <a:rPr sz="1150" b="1">
                <a:solidFill>
                  <a:srgbClr val="00796B"/>
                </a:solidFill>
                <a:latin typeface="Consolas"/>
              </a:rPr>
              <a:t>DECIMAL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9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333333"/>
                </a:solidFill>
                <a:latin typeface="Consolas"/>
              </a:rPr>
              <a:t>6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laengengrad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BETWEEN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-180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AND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180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Standorte in Berlin → „Stadtbibliothek Mitte“, Breite Strasse 30.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and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123679"/>
            <a:ext cx="5221224" cy="19822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VERSANDOPTION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14/25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versandoption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versandoption_id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exemplar_id</a:t>
            </a:r>
            <a:r>
              <a:rPr sz="1150">
                <a:solidFill>
                  <a:srgbClr val="333333"/>
                </a:solidFill>
                <a:latin typeface="Consolas"/>
              </a:rPr>
              <a:t>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UNIQUE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buchexemplar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exemplar_id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ON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DELETE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CASCADE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versandart</a:t>
            </a: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versandart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IN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B05A00"/>
                </a:solidFill>
                <a:latin typeface="Consolas"/>
              </a:rPr>
              <a:t>'abholung'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B05A00"/>
                </a:solidFill>
                <a:latin typeface="Consolas"/>
              </a:rPr>
              <a:t>'post'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B05A00"/>
                </a:solidFill>
                <a:latin typeface="Consolas"/>
              </a:rPr>
              <a:t>'beides'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kosten</a:t>
            </a:r>
            <a:r>
              <a:rPr sz="1150">
                <a:solidFill>
                  <a:srgbClr val="333333"/>
                </a:solidFill>
                <a:latin typeface="Consolas"/>
              </a:rPr>
              <a:t>   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DECIMAL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6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333333"/>
                </a:solidFill>
                <a:latin typeface="Consolas"/>
              </a:rPr>
              <a:t>2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DEFAULT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0.00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kosten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&gt;=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Alle per Post versendbaren Exemplare (versandart IN ('post','beides')) -- 7 Treffer.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rsando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663" y="2715768"/>
            <a:ext cx="5174073" cy="27980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BENACHRICHTIGUNG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15/25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benachrichtigung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benachrichtigung_id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nutzer_id</a:t>
            </a:r>
            <a:r>
              <a:rPr sz="1150">
                <a:solidFill>
                  <a:srgbClr val="333333"/>
                </a:solidFill>
                <a:latin typeface="Consolas"/>
              </a:rPr>
              <a:t>   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nutzer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nutzer_id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ON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DELETE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CASCADE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typ</a:t>
            </a:r>
            <a:r>
              <a:rPr sz="1150">
                <a:solidFill>
                  <a:srgbClr val="333333"/>
                </a:solidFill>
                <a:latin typeface="Consolas"/>
              </a:rPr>
              <a:t>          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30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inhalt</a:t>
            </a:r>
            <a:r>
              <a:rPr sz="1150">
                <a:solidFill>
                  <a:srgbClr val="333333"/>
                </a:solidFill>
                <a:latin typeface="Consolas"/>
              </a:rPr>
              <a:t>                </a:t>
            </a:r>
            <a:r>
              <a:rPr sz="1150">
                <a:solidFill>
                  <a:srgbClr val="333333"/>
                </a:solidFill>
                <a:latin typeface="Consolas"/>
              </a:rPr>
              <a:t>TEXT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gelesen</a:t>
            </a:r>
            <a:r>
              <a:rPr sz="1150">
                <a:solidFill>
                  <a:srgbClr val="333333"/>
                </a:solidFill>
                <a:latin typeface="Consolas"/>
              </a:rPr>
              <a:t>      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BOOLEAN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DEFAULT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0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gelesen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IN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0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333333"/>
                </a:solidFill>
                <a:latin typeface="Consolas"/>
              </a:rPr>
              <a:t>1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erstellt_am</a:t>
            </a:r>
            <a:r>
              <a:rPr sz="1150">
                <a:solidFill>
                  <a:srgbClr val="333333"/>
                </a:solidFill>
                <a:latin typeface="Consolas"/>
              </a:rPr>
              <a:t>   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DATETIME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DEFAULT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CURRENT_TIMESTAMP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Ungelesene Benachrichtigungen von Ivo Neumann → „Ein gewuenschtes Buch ist jetzt verfuegbar.“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enachrichtig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136316"/>
            <a:ext cx="5221224" cy="19569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Tabelle: BEWERTUNG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16/25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bewertung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bewertung_id</a:t>
            </a:r>
            <a:r>
              <a:rPr sz="1150">
                <a:solidFill>
                  <a:srgbClr val="333333"/>
                </a:solidFill>
                <a:latin typeface="Consolas"/>
              </a:rPr>
              <a:t>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ausleihe_id</a:t>
            </a:r>
            <a:r>
              <a:rPr sz="1150">
                <a:solidFill>
                  <a:srgbClr val="333333"/>
                </a:solidFill>
                <a:latin typeface="Consolas"/>
              </a:rPr>
              <a:t>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UNIQUE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ausleihe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ausleihe_id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ON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DELETE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CASCADE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sternebewertung</a:t>
            </a:r>
            <a:r>
              <a:rPr sz="1150">
                <a:solidFill>
                  <a:srgbClr val="333333"/>
                </a:solidFill>
                <a:latin typeface="Consolas"/>
              </a:rPr>
              <a:t>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sternebewertung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BETWEEN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1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AND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5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kommentar</a:t>
            </a:r>
            <a:r>
              <a:rPr sz="1150">
                <a:solidFill>
                  <a:srgbClr val="333333"/>
                </a:solidFill>
                <a:latin typeface="Consolas"/>
              </a:rPr>
              <a:t>         </a:t>
            </a:r>
            <a:r>
              <a:rPr sz="1150">
                <a:solidFill>
                  <a:srgbClr val="333333"/>
                </a:solidFill>
                <a:latin typeface="Consolas"/>
              </a:rPr>
              <a:t>TEXT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bewertungsdatum</a:t>
            </a:r>
            <a:r>
              <a:rPr sz="1150">
                <a:solidFill>
                  <a:srgbClr val="333333"/>
                </a:solidFill>
                <a:latin typeface="Consolas"/>
              </a:rPr>
              <a:t>   </a:t>
            </a:r>
            <a:r>
              <a:rPr sz="1150" b="1">
                <a:solidFill>
                  <a:srgbClr val="00796B"/>
                </a:solidFill>
                <a:latin typeface="Consolas"/>
              </a:rPr>
              <a:t>DATE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DEFAULT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CURRENT_DATE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Durchschnittsbewertung je Eigentümer:in (GROUP BY) -- Top: Greta Klein, Clara Hoffmann, Ben Fischer je 5.0. ausleihe_id ist UNIQUE → höchstens eine Bewertung je Ausleihe (Feedback Tutor Punkt 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ewert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919" y="2715768"/>
            <a:ext cx="4683561" cy="27980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Dreifachbeziehung: AUSLEIHE (LEIHT_AUS)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17/25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ausleihe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ausleihe_id</a:t>
            </a: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nutzer_id</a:t>
            </a:r>
            <a:r>
              <a:rPr sz="1150">
                <a:solidFill>
                  <a:srgbClr val="333333"/>
                </a:solidFill>
                <a:latin typeface="Consolas"/>
              </a:rPr>
              <a:t>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nutzer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nutzer_id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exemplar_id</a:t>
            </a: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buchexemplar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exemplar_id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zeitslot_id</a:t>
            </a: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zeitslot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zeitslot_id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ausleihdatum</a:t>
            </a:r>
            <a:r>
              <a:rPr sz="1150">
                <a:solidFill>
                  <a:srgbClr val="333333"/>
                </a:solidFill>
                <a:latin typeface="Consolas"/>
              </a:rPr>
              <a:t>   </a:t>
            </a:r>
            <a:r>
              <a:rPr sz="1150" b="1">
                <a:solidFill>
                  <a:srgbClr val="00796B"/>
                </a:solidFill>
                <a:latin typeface="Consolas"/>
              </a:rPr>
              <a:t>DATE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rueckgabedatum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DATE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status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VARCHAR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15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DEFAULT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B05A00"/>
                </a:solidFill>
                <a:latin typeface="Consolas"/>
              </a:rPr>
              <a:t>'aktiv'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status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IN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B05A00"/>
                </a:solidFill>
                <a:latin typeface="Consolas"/>
              </a:rPr>
              <a:t>'aktiv'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B05A00"/>
                </a:solidFill>
                <a:latin typeface="Consolas"/>
              </a:rPr>
              <a:t>'zurueckgegeben'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B05A00"/>
                </a:solidFill>
                <a:latin typeface="Consolas"/>
              </a:rPr>
              <a:t>'ueberfaellig'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rueckgabedatum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IS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OR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rueckgabedatum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&gt;=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ausleihdatum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UNIQUE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exemplar_id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zeitslot_id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Alle abgeschlossenen Ausleihen mit Entleiher:in und Buchtitel -- 10 Treffer (Nutzer:in × Buchexemplar × Zeitslot).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uslei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602" y="2715768"/>
            <a:ext cx="4288195" cy="27980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Dreifachbeziehung: VERFUEGBARKEIT (VERFUEGBAR_AN)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18/25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23560" cy="411480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TABLE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verfuegbarkeit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verfuegbarkeit_id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KEY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AUTOINCREMENT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exemplar_id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buchexemplar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exemplar_id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ON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DELETE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CASCADE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zeitslot_id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zeitslot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zeitslot_id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ON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DELETE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CASCADE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standort_id</a:t>
            </a:r>
            <a:r>
              <a:rPr sz="1150">
                <a:solidFill>
                  <a:srgbClr val="333333"/>
                </a:solidFill>
                <a:latin typeface="Consolas"/>
              </a:rPr>
              <a:t>  </a:t>
            </a:r>
            <a:r>
              <a:rPr sz="115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standort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standort_id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>
                <a:solidFill>
                  <a:srgbClr val="333333"/>
                </a:solidFill>
                <a:latin typeface="Consolas"/>
              </a:rPr>
              <a:t>verfuegbar</a:t>
            </a:r>
            <a:r>
              <a:rPr sz="1150">
                <a:solidFill>
                  <a:srgbClr val="333333"/>
                </a:solidFill>
                <a:latin typeface="Consolas"/>
              </a:rPr>
              <a:t>   </a:t>
            </a:r>
            <a:r>
              <a:rPr sz="1150" b="1">
                <a:solidFill>
                  <a:srgbClr val="00796B"/>
                </a:solidFill>
                <a:latin typeface="Consolas"/>
              </a:rPr>
              <a:t>BOOLEAN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NOT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NULL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DEFAULT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1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CHECK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verfuegbar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 b="1">
                <a:solidFill>
                  <a:srgbClr val="00796B"/>
                </a:solidFill>
                <a:latin typeface="Consolas"/>
              </a:rPr>
              <a:t>IN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0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333333"/>
                </a:solidFill>
                <a:latin typeface="Consolas"/>
              </a:rPr>
              <a:t>1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    </a:t>
            </a:r>
            <a:r>
              <a:rPr sz="1150" b="1">
                <a:solidFill>
                  <a:srgbClr val="00796B"/>
                </a:solidFill>
                <a:latin typeface="Consolas"/>
              </a:rPr>
              <a:t>UNIQUE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(</a:t>
            </a:r>
            <a:r>
              <a:rPr sz="1150">
                <a:solidFill>
                  <a:srgbClr val="333333"/>
                </a:solidFill>
                <a:latin typeface="Consolas"/>
              </a:rPr>
              <a:t>exemplar_id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zeitslot_id</a:t>
            </a:r>
            <a:r>
              <a:rPr sz="1150">
                <a:solidFill>
                  <a:srgbClr val="333333"/>
                </a:solidFill>
                <a:latin typeface="Consolas"/>
              </a:rPr>
              <a:t>,</a:t>
            </a:r>
            <a:r>
              <a:rPr sz="1150">
                <a:solidFill>
                  <a:srgbClr val="333333"/>
                </a:solidFill>
                <a:latin typeface="Consolas"/>
              </a:rPr>
              <a:t> </a:t>
            </a:r>
            <a:r>
              <a:rPr sz="1150">
                <a:solidFill>
                  <a:srgbClr val="333333"/>
                </a:solidFill>
                <a:latin typeface="Consolas"/>
              </a:rPr>
              <a:t>standort_id</a:t>
            </a: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333333"/>
                </a:solidFill>
                <a:latin typeface="Consolas"/>
              </a:rPr>
              <a:t>)</a:t>
            </a:r>
            <a:r>
              <a:rPr sz="115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Testfall: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Verfügbare Exemplare an der „Stadtbibliothek Mitte“ -- kombiniert Buchexemplar, Zeitslot und Standort zu einer Verfügbarkeitsaussage.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rfuegbarke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031000"/>
            <a:ext cx="5221224" cy="21675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M:N-Verknüpfungstabellen: BUCH_AUTOR und BUCH_GENRE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19/25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CREATE-Statements: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7772400" cy="310896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TABLE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buch_autor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</a:t>
            </a:r>
            <a:r>
              <a:rPr sz="1300">
                <a:solidFill>
                  <a:srgbClr val="333333"/>
                </a:solidFill>
                <a:latin typeface="Consolas"/>
              </a:rPr>
              <a:t>buch_id</a:t>
            </a:r>
            <a:r>
              <a:rPr sz="1300">
                <a:solidFill>
                  <a:srgbClr val="333333"/>
                </a:solidFill>
                <a:latin typeface="Consolas"/>
              </a:rPr>
              <a:t>   </a:t>
            </a:r>
            <a:r>
              <a:rPr sz="130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NOT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NULL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buch</a:t>
            </a:r>
            <a:r>
              <a:rPr sz="1300">
                <a:solidFill>
                  <a:srgbClr val="333333"/>
                </a:solidFill>
                <a:latin typeface="Consolas"/>
              </a:rPr>
              <a:t>(</a:t>
            </a:r>
            <a:r>
              <a:rPr sz="1300">
                <a:solidFill>
                  <a:srgbClr val="333333"/>
                </a:solidFill>
                <a:latin typeface="Consolas"/>
              </a:rPr>
              <a:t>buch_id</a:t>
            </a:r>
            <a:r>
              <a:rPr sz="1300">
                <a:solidFill>
                  <a:srgbClr val="333333"/>
                </a:solidFill>
                <a:latin typeface="Consolas"/>
              </a:rPr>
              <a:t>)</a:t>
            </a:r>
            <a:r>
              <a:rPr sz="1300">
                <a:solidFill>
                  <a:srgbClr val="333333"/>
                </a:solidFill>
                <a:latin typeface="Consolas"/>
              </a:rPr>
              <a:t>   </a:t>
            </a:r>
            <a:r>
              <a:rPr sz="1300" b="1">
                <a:solidFill>
                  <a:srgbClr val="00796B"/>
                </a:solidFill>
                <a:latin typeface="Consolas"/>
              </a:rPr>
              <a:t>ON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DELETE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CASCADE</a:t>
            </a:r>
            <a:r>
              <a:rPr sz="130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</a:t>
            </a:r>
            <a:r>
              <a:rPr sz="1300">
                <a:solidFill>
                  <a:srgbClr val="333333"/>
                </a:solidFill>
                <a:latin typeface="Consolas"/>
              </a:rPr>
              <a:t>autor_id</a:t>
            </a:r>
            <a:r>
              <a:rPr sz="1300">
                <a:solidFill>
                  <a:srgbClr val="333333"/>
                </a:solidFill>
                <a:latin typeface="Consolas"/>
              </a:rPr>
              <a:t>  </a:t>
            </a:r>
            <a:r>
              <a:rPr sz="130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NOT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NULL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autor</a:t>
            </a:r>
            <a:r>
              <a:rPr sz="1300">
                <a:solidFill>
                  <a:srgbClr val="333333"/>
                </a:solidFill>
                <a:latin typeface="Consolas"/>
              </a:rPr>
              <a:t>(</a:t>
            </a:r>
            <a:r>
              <a:rPr sz="1300">
                <a:solidFill>
                  <a:srgbClr val="333333"/>
                </a:solidFill>
                <a:latin typeface="Consolas"/>
              </a:rPr>
              <a:t>autor_id</a:t>
            </a:r>
            <a:r>
              <a:rPr sz="1300">
                <a:solidFill>
                  <a:srgbClr val="333333"/>
                </a:solidFill>
                <a:latin typeface="Consolas"/>
              </a:rPr>
              <a:t>)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ON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DELETE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CASCADE</a:t>
            </a:r>
            <a:r>
              <a:rPr sz="130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</a:t>
            </a:r>
            <a:r>
              <a:rPr sz="130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KEY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(</a:t>
            </a:r>
            <a:r>
              <a:rPr sz="1300">
                <a:solidFill>
                  <a:srgbClr val="333333"/>
                </a:solidFill>
                <a:latin typeface="Consolas"/>
              </a:rPr>
              <a:t>buch_id</a:t>
            </a:r>
            <a:r>
              <a:rPr sz="1300">
                <a:solidFill>
                  <a:srgbClr val="333333"/>
                </a:solidFill>
                <a:latin typeface="Consolas"/>
              </a:rPr>
              <a:t>,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autor_id</a:t>
            </a:r>
            <a:r>
              <a:rPr sz="1300">
                <a:solidFill>
                  <a:srgbClr val="333333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)</a:t>
            </a:r>
            <a:r>
              <a:rPr sz="1300">
                <a:solidFill>
                  <a:srgbClr val="333333"/>
                </a:solidFill>
                <a:latin typeface="Consolas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TABLE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buch_genre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</a:t>
            </a:r>
            <a:r>
              <a:rPr sz="1300">
                <a:solidFill>
                  <a:srgbClr val="333333"/>
                </a:solidFill>
                <a:latin typeface="Consolas"/>
              </a:rPr>
              <a:t>buch_id</a:t>
            </a:r>
            <a:r>
              <a:rPr sz="1300">
                <a:solidFill>
                  <a:srgbClr val="333333"/>
                </a:solidFill>
                <a:latin typeface="Consolas"/>
              </a:rPr>
              <a:t>   </a:t>
            </a:r>
            <a:r>
              <a:rPr sz="130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NOT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NULL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buch</a:t>
            </a:r>
            <a:r>
              <a:rPr sz="1300">
                <a:solidFill>
                  <a:srgbClr val="333333"/>
                </a:solidFill>
                <a:latin typeface="Consolas"/>
              </a:rPr>
              <a:t>(</a:t>
            </a:r>
            <a:r>
              <a:rPr sz="1300">
                <a:solidFill>
                  <a:srgbClr val="333333"/>
                </a:solidFill>
                <a:latin typeface="Consolas"/>
              </a:rPr>
              <a:t>buch_id</a:t>
            </a:r>
            <a:r>
              <a:rPr sz="1300">
                <a:solidFill>
                  <a:srgbClr val="333333"/>
                </a:solidFill>
                <a:latin typeface="Consolas"/>
              </a:rPr>
              <a:t>)</a:t>
            </a:r>
            <a:r>
              <a:rPr sz="1300">
                <a:solidFill>
                  <a:srgbClr val="333333"/>
                </a:solidFill>
                <a:latin typeface="Consolas"/>
              </a:rPr>
              <a:t>   </a:t>
            </a:r>
            <a:r>
              <a:rPr sz="1300" b="1">
                <a:solidFill>
                  <a:srgbClr val="00796B"/>
                </a:solidFill>
                <a:latin typeface="Consolas"/>
              </a:rPr>
              <a:t>ON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DELETE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CASCADE</a:t>
            </a:r>
            <a:r>
              <a:rPr sz="130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</a:t>
            </a:r>
            <a:r>
              <a:rPr sz="1300">
                <a:solidFill>
                  <a:srgbClr val="333333"/>
                </a:solidFill>
                <a:latin typeface="Consolas"/>
              </a:rPr>
              <a:t>genre_id</a:t>
            </a:r>
            <a:r>
              <a:rPr sz="1300">
                <a:solidFill>
                  <a:srgbClr val="333333"/>
                </a:solidFill>
                <a:latin typeface="Consolas"/>
              </a:rPr>
              <a:t>  </a:t>
            </a:r>
            <a:r>
              <a:rPr sz="1300" b="1">
                <a:solidFill>
                  <a:srgbClr val="00796B"/>
                </a:solidFill>
                <a:latin typeface="Consolas"/>
              </a:rPr>
              <a:t>INTEGER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NOT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NULL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REFERENCES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genre</a:t>
            </a:r>
            <a:r>
              <a:rPr sz="1300">
                <a:solidFill>
                  <a:srgbClr val="333333"/>
                </a:solidFill>
                <a:latin typeface="Consolas"/>
              </a:rPr>
              <a:t>(</a:t>
            </a:r>
            <a:r>
              <a:rPr sz="1300">
                <a:solidFill>
                  <a:srgbClr val="333333"/>
                </a:solidFill>
                <a:latin typeface="Consolas"/>
              </a:rPr>
              <a:t>genre_id</a:t>
            </a:r>
            <a:r>
              <a:rPr sz="1300">
                <a:solidFill>
                  <a:srgbClr val="333333"/>
                </a:solidFill>
                <a:latin typeface="Consolas"/>
              </a:rPr>
              <a:t>)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ON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DELETE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CASCADE</a:t>
            </a:r>
            <a:r>
              <a:rPr sz="1300">
                <a:solidFill>
                  <a:srgbClr val="333333"/>
                </a:solidFill>
                <a:latin typeface="Consolas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    </a:t>
            </a:r>
            <a:r>
              <a:rPr sz="1300" b="1">
                <a:solidFill>
                  <a:srgbClr val="00796B"/>
                </a:solidFill>
                <a:latin typeface="Consolas"/>
              </a:rPr>
              <a:t>PRIMARY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 b="1">
                <a:solidFill>
                  <a:srgbClr val="00796B"/>
                </a:solidFill>
                <a:latin typeface="Consolas"/>
              </a:rPr>
              <a:t>KEY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(</a:t>
            </a:r>
            <a:r>
              <a:rPr sz="1300">
                <a:solidFill>
                  <a:srgbClr val="333333"/>
                </a:solidFill>
                <a:latin typeface="Consolas"/>
              </a:rPr>
              <a:t>buch_id</a:t>
            </a:r>
            <a:r>
              <a:rPr sz="1300">
                <a:solidFill>
                  <a:srgbClr val="333333"/>
                </a:solidFill>
                <a:latin typeface="Consolas"/>
              </a:rPr>
              <a:t>,</a:t>
            </a:r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  <a:r>
              <a:rPr sz="1300">
                <a:solidFill>
                  <a:srgbClr val="333333"/>
                </a:solidFill>
                <a:latin typeface="Consolas"/>
              </a:rPr>
              <a:t>genre_id</a:t>
            </a:r>
            <a:r>
              <a:rPr sz="1300">
                <a:solidFill>
                  <a:srgbClr val="333333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333333"/>
                </a:solidFill>
                <a:latin typeface="Consolas"/>
              </a:rPr>
              <a:t>)</a:t>
            </a:r>
            <a:r>
              <a:rPr sz="130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Lösen die binären M:N-Beziehungen Verfasst und Gehört zu aus dem ER-Modell (Phase 1) relational auf. Zusammengesetzter Primärschlüssel verhindert doppelte Zuordnungen.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Trigger für Geschäftsregeln (nicht per CHECK abbildbar)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20/25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SQLite erlaubt keine Subqueries in CHECK-Constraints -- Regeln, die auf andere Tabellen verweisen, werden daher per TRIGGER durchgesetzt: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11247120" cy="4206240"/>
          </a:xfrm>
          <a:prstGeom prst="roundRect">
            <a:avLst>
              <a:gd name="adj" fmla="val 4000"/>
            </a:avLst>
          </a:prstGeom>
          <a:solidFill>
            <a:srgbClr val="F2F2F0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TRIGGER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trg_ausleihe_kein_eigenausleih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6B"/>
                </a:solidFill>
                <a:latin typeface="Consolas"/>
              </a:rPr>
              <a:t>BEFORE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INSERT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ON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ausleihe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FOR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EACH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ROW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6B"/>
                </a:solidFill>
                <a:latin typeface="Consolas"/>
              </a:rPr>
              <a:t>WHEN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NEW.nutzer_id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=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(</a:t>
            </a:r>
            <a:r>
              <a:rPr sz="1400" b="1">
                <a:solidFill>
                  <a:srgbClr val="00796B"/>
                </a:solidFill>
                <a:latin typeface="Consolas"/>
              </a:rPr>
              <a:t>SELECT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eigentuemer_id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FROM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buchexemplar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333333"/>
                </a:solidFill>
                <a:latin typeface="Consolas"/>
              </a:rPr>
              <a:t>                       </a:t>
            </a:r>
            <a:r>
              <a:rPr sz="1400" b="1">
                <a:solidFill>
                  <a:srgbClr val="00796B"/>
                </a:solidFill>
                <a:latin typeface="Consolas"/>
              </a:rPr>
              <a:t>WHERE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exemplar_id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=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NEW.exemplar_id</a:t>
            </a:r>
            <a:r>
              <a:rPr sz="1400">
                <a:solidFill>
                  <a:srgbClr val="333333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6B"/>
                </a:solidFill>
                <a:latin typeface="Consolas"/>
              </a:rPr>
              <a:t>BEGIN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SELECT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RAISE</a:t>
            </a:r>
            <a:r>
              <a:rPr sz="1400">
                <a:solidFill>
                  <a:srgbClr val="333333"/>
                </a:solidFill>
                <a:latin typeface="Consolas"/>
              </a:rPr>
              <a:t>(</a:t>
            </a:r>
            <a:r>
              <a:rPr sz="1400" b="1">
                <a:solidFill>
                  <a:srgbClr val="00796B"/>
                </a:solidFill>
                <a:latin typeface="Consolas"/>
              </a:rPr>
              <a:t>ABORT</a:t>
            </a:r>
            <a:r>
              <a:rPr sz="1400">
                <a:solidFill>
                  <a:srgbClr val="333333"/>
                </a:solidFill>
                <a:latin typeface="Consolas"/>
              </a:rPr>
              <a:t>,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'Nutzer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kann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eigenes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Buchexemplar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nicht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ausleihen'</a:t>
            </a:r>
            <a:r>
              <a:rPr sz="1400">
                <a:solidFill>
                  <a:srgbClr val="333333"/>
                </a:solidFill>
                <a:latin typeface="Consolas"/>
              </a:rPr>
              <a:t>)</a:t>
            </a:r>
            <a:r>
              <a:rPr sz="1400">
                <a:solidFill>
                  <a:srgbClr val="333333"/>
                </a:solidFill>
                <a:latin typeface="Consolas"/>
              </a:rPr>
              <a:t>;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END</a:t>
            </a:r>
            <a:r>
              <a:rPr sz="1400">
                <a:solidFill>
                  <a:srgbClr val="333333"/>
                </a:solidFill>
                <a:latin typeface="Consolas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6B"/>
                </a:solidFill>
                <a:latin typeface="Consolas"/>
              </a:rPr>
              <a:t>CREATE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TRIGGER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trg_bewertung_nur_nach_rueckgabe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6B"/>
                </a:solidFill>
                <a:latin typeface="Consolas"/>
              </a:rPr>
              <a:t>BEFORE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INSERT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ON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bewertung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FOR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EACH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ROW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6B"/>
                </a:solidFill>
                <a:latin typeface="Consolas"/>
              </a:rPr>
              <a:t>WHEN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(</a:t>
            </a:r>
            <a:r>
              <a:rPr sz="1400" b="1">
                <a:solidFill>
                  <a:srgbClr val="00796B"/>
                </a:solidFill>
                <a:latin typeface="Consolas"/>
              </a:rPr>
              <a:t>SELECT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status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FROM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ausleihe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WHERE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ausleihe_id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=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NEW.ausleihe_id</a:t>
            </a:r>
            <a:r>
              <a:rPr sz="1400">
                <a:solidFill>
                  <a:srgbClr val="333333"/>
                </a:solidFill>
                <a:latin typeface="Consolas"/>
              </a:rPr>
              <a:t>)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!=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B05A00"/>
                </a:solidFill>
                <a:latin typeface="Consolas"/>
              </a:rPr>
              <a:t>'zurueckgegeben'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796B"/>
                </a:solidFill>
                <a:latin typeface="Consolas"/>
              </a:rPr>
              <a:t>BEGIN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SELECT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RAISE</a:t>
            </a:r>
            <a:r>
              <a:rPr sz="1400">
                <a:solidFill>
                  <a:srgbClr val="333333"/>
                </a:solidFill>
                <a:latin typeface="Consolas"/>
              </a:rPr>
              <a:t>(</a:t>
            </a:r>
            <a:r>
              <a:rPr sz="1400" b="1">
                <a:solidFill>
                  <a:srgbClr val="00796B"/>
                </a:solidFill>
                <a:latin typeface="Consolas"/>
              </a:rPr>
              <a:t>ABORT</a:t>
            </a:r>
            <a:r>
              <a:rPr sz="1400">
                <a:solidFill>
                  <a:srgbClr val="333333"/>
                </a:solidFill>
                <a:latin typeface="Consolas"/>
              </a:rPr>
              <a:t>,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'Bewertung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nur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fuer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abgeschlossene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Ausleihen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>
                <a:solidFill>
                  <a:srgbClr val="333333"/>
                </a:solidFill>
                <a:latin typeface="Consolas"/>
              </a:rPr>
              <a:t>erlaubt'</a:t>
            </a:r>
            <a:r>
              <a:rPr sz="1400">
                <a:solidFill>
                  <a:srgbClr val="333333"/>
                </a:solidFill>
                <a:latin typeface="Consolas"/>
              </a:rPr>
              <a:t>)</a:t>
            </a:r>
            <a:r>
              <a:rPr sz="1400">
                <a:solidFill>
                  <a:srgbClr val="333333"/>
                </a:solidFill>
                <a:latin typeface="Consolas"/>
              </a:rPr>
              <a:t>;</a:t>
            </a:r>
            <a:r>
              <a:rPr sz="1400">
                <a:solidFill>
                  <a:srgbClr val="333333"/>
                </a:solidFill>
                <a:latin typeface="Consolas"/>
              </a:rPr>
              <a:t> </a:t>
            </a:r>
            <a:r>
              <a:rPr sz="1400" b="1">
                <a:solidFill>
                  <a:srgbClr val="00796B"/>
                </a:solidFill>
                <a:latin typeface="Consolas"/>
              </a:rPr>
              <a:t>END</a:t>
            </a:r>
            <a:r>
              <a:rPr sz="1400">
                <a:solidFill>
                  <a:srgbClr val="333333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Negativtestfälle: Geschäftsregeln aktiv geprüft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21/25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(1) Sternebewertung =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egativtes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553975"/>
            <a:ext cx="3392424" cy="9270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48056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CHECK: sternebewertung BETWEEN 1 AND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18872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(2) Versandkosten = -5.00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459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egativtes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543616"/>
            <a:ext cx="3392424" cy="9478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60520" y="448056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CHECK: kosten &gt;=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118872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(3) Zeitslot 15:00-14:00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6459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negativtes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521446"/>
            <a:ext cx="3392424" cy="9921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55280" y="448056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CHECK: startzeit &lt; endzeit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Negativtestfälle: Geschäftsregeln aktiv geprüft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22/25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(4) Ausleihe mit nutzer_id = 9999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egativtes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457693"/>
            <a:ext cx="3392424" cy="11196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48056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FOREIGN KEY constraint failed (mit PRAGMA foreign_keys = ON;)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18872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(5) Eigentümer:in leiht eigenes Exemplar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459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egativtes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580871"/>
            <a:ext cx="3392424" cy="8732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60520" y="448056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Trigger: Nutzer kann eigenes Buchexemplar nicht ausleihen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118872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(6) Bewertung zu aktiver Ausleihe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6459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negativtest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529373"/>
            <a:ext cx="3392424" cy="97629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55280" y="448056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Trigger: Bewertung nur für abgeschlossene Ausleihen erlaubt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6235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333333"/>
                </a:solidFill>
                <a:latin typeface="Calibri"/>
              </a:rPr>
              <a:t>Hinweis: </a:t>
            </a:r>
            <a:r>
              <a:rPr sz="1300" b="0" i="1">
                <a:solidFill>
                  <a:srgbClr val="333333"/>
                </a:solidFill>
                <a:latin typeface="Calibri"/>
              </a:rPr>
              <a:t>SQLite erzwingt Fremdschlüssel nur, wenn PRAGMA foreign_keys = ON; pro Verbindung gesetzt ist -- ohne dieses PRAGMA würde Test (4) fälschlich durchgehen, obwohl das Schema korrekt ist.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Zusammenfassung der Implementierung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23/25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Das ER-Modell aus Phase 1 (13 Entitäten, 2 Dreifachbeziehungen) wurde vollständig in SQLite als 17 physische Tabellen umgesetzt: 13 Entitätstabellen, 2 Dreifachbeziehungstabellen (ausleihe, verfuegbarkeit) und 2 M:N-Verknüpfungstabellen (buch_autor, buch_genre).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Alle 17 Tabellen enthalten mindestens 10 realistische Dummy-Datensätze (insgesamt &gt; 190 Zeilen), erzeugt und verifiziert per Python-sqlite3-Skript.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Datenintegrität wird durch NOT NULL, UNIQUE, Fremdschlüssel (inkl. ON DELETE CASCADE wo fachlich sinnvoll) sowie CHECK-Constraints für alle relevanten Wertebereiche sichergestellt; zwei Trigger decken Geschäftsregeln ab, die CHECK allein nicht abbilden kann.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Für jede Entität liegt mindestens ein erfolgreicher Testfall vor; zusätzlich wurden 6 gezielt ungültige Fälle formuliert und ausgeführt, die alle korrekt abgelehnt wurden -- direkte Umsetzung des Tutor-Feedbacks aus Phase 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Herausforderungen und Erkenntnisse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2377440" cy="38100"/>
          </a:xfrm>
          <a:prstGeom prst="rect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24/25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Werk vs. Exemplar: Erst durch das Tutor-Feedback wurde klar, dass eigentuemer_id nicht auf BUCH gehört, sondern auf ein eigenes BUCHEXEMPLAR -- sonst könnte ein Buchtitel nur einer Person gehören.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Bewertung ohne Ausleihe verhindern: Eine reine Dreifachbeziehung Bewertender-Buch-Eigentümer hätte nicht ausgeschlossen, dass ohne echten Ausleihvorgang bewertet wird. Die Kopplung über ausleihe_id (UNIQUE) löst das strukturell, nicht nur per Anwendungslogik.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SQLite-Grenzen: Keine nativen ENUM-Typen und keine Subqueries in CHECK-Constraints -- das erzwang saubere CHECK-Listen bzw. Trigger, was die Constraints expliziter macht als ein einfacher ENUM-Typ.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Nächster Schritt (Phase 3): Weitere Indizes für Abfrageperformance sowie Ausbau der Umkreissuche (Haversine-Berechnung auf Basis von standort).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33333"/>
                </a:solidFill>
                <a:latin typeface="Calibri"/>
              </a:rPr>
              <a:t>Vielen Dank für die Aufmerksamkeit!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33333"/>
                </a:solidFill>
                <a:latin typeface="Calibri"/>
              </a:rPr>
              <a:t>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